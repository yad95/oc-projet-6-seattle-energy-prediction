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1" r:id="rId5"/>
    <p:sldId id="260" r:id="rId6"/>
    <p:sldId id="259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6554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1463040"/>
          </a:xfrm>
          <a:prstGeom prst="rect">
            <a:avLst/>
          </a:prstGeom>
          <a:solidFill>
            <a:srgbClr val="0D9488">
              <a:alpha val="16000"/>
            </a:srgbClr>
          </a:solidFill>
          <a:ln w="12700">
            <a:solidFill>
              <a:srgbClr val="0D9488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8046720" y="0"/>
            <a:ext cx="1097280" cy="2743200"/>
          </a:xfrm>
          <a:prstGeom prst="rect">
            <a:avLst/>
          </a:prstGeom>
          <a:solidFill>
            <a:srgbClr val="14B8A6">
              <a:alpha val="10000"/>
            </a:srgbClr>
          </a:solidFill>
          <a:ln w="12700">
            <a:solidFill>
              <a:srgbClr val="14B8A6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256032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DATA SCIENCE · OPENCLASSROOMS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56032" y="621792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Prédire la</a:t>
            </a:r>
            <a:endParaRPr lang="en-US" sz="4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consommation</a:t>
            </a:r>
            <a:endParaRPr lang="en-US" sz="4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énergétique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256032" y="2907792"/>
            <a:ext cx="530352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56032" y="299923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 bâtiments de Seattle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56032" y="3858768"/>
            <a:ext cx="1965960" cy="329184"/>
          </a:xfrm>
          <a:prstGeom prst="roundRect">
            <a:avLst>
              <a:gd name="adj" fmla="val 13889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56032" y="385876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331720" y="3858768"/>
            <a:ext cx="1965960" cy="329184"/>
          </a:xfrm>
          <a:prstGeom prst="roundRect">
            <a:avLst>
              <a:gd name="adj" fmla="val 13889"/>
            </a:avLst>
          </a:prstGeom>
          <a:solidFill>
            <a:srgbClr val="14B8A6">
              <a:alpha val="25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2331720" y="385876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407408" y="3858768"/>
            <a:ext cx="1965960" cy="329184"/>
          </a:xfrm>
          <a:prstGeom prst="roundRect">
            <a:avLst>
              <a:gd name="adj" fmla="val 13889"/>
            </a:avLst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407408" y="385876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83096" y="3858768"/>
            <a:ext cx="1965960" cy="329184"/>
          </a:xfrm>
          <a:prstGeom prst="roundRect">
            <a:avLst>
              <a:gd name="adj" fmla="val 13889"/>
            </a:avLst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483096" y="385876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6032" y="4498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YILMAZ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44988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  Seattle, 2016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CONTEXTE &amp; PROBLÉMATIQUE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0" y="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SEATTLE · NEUTRALITÉ CARBONE 2050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2743200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274320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1234440" y="1417320"/>
            <a:ext cx="822960" cy="822960"/>
          </a:xfrm>
          <a:prstGeom prst="ellipse">
            <a:avLst/>
          </a:prstGeom>
          <a:solidFill>
            <a:srgbClr val="22C55E">
              <a:alpha val="15000"/>
            </a:srgbClr>
          </a:solidFill>
          <a:ln w="12700">
            <a:solidFill>
              <a:srgbClr val="22C55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312" y="1536192"/>
            <a:ext cx="585216" cy="5852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2377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Enjeu environnemental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11480" y="2816352"/>
            <a:ext cx="2468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bâtiments représentent ~40% de la consommation d'énergie mondiale. Seattle s'est engagée vers la neutralité carbone d'ici 2050.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00400" y="1234440"/>
            <a:ext cx="2743200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0"/>
          <p:cNvSpPr/>
          <p:nvPr/>
        </p:nvSpPr>
        <p:spPr>
          <a:xfrm>
            <a:off x="3200400" y="1234440"/>
            <a:ext cx="27432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4160520" y="1417320"/>
            <a:ext cx="822960" cy="82296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392" y="1536192"/>
            <a:ext cx="585216" cy="58521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37560" y="2377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 réglementaire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3337560" y="2816352"/>
            <a:ext cx="2468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programme Benchmarking impose aux grands bâtiments non-résidentiels de déclarer leur consommation énergétique annuelle.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126480" y="1234440"/>
            <a:ext cx="2743200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5"/>
          <p:cNvSpPr/>
          <p:nvPr/>
        </p:nvSpPr>
        <p:spPr>
          <a:xfrm>
            <a:off x="6126480" y="1234440"/>
            <a:ext cx="2743200" cy="91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6"/>
          <p:cNvSpPr/>
          <p:nvPr/>
        </p:nvSpPr>
        <p:spPr>
          <a:xfrm>
            <a:off x="7086600" y="1417320"/>
            <a:ext cx="822960" cy="822960"/>
          </a:xfrm>
          <a:prstGeom prst="ellipse">
            <a:avLst/>
          </a:prstGeom>
          <a:solidFill>
            <a:srgbClr val="A78BFA">
              <a:alpha val="15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5472" y="1536192"/>
            <a:ext cx="585216" cy="58521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63640" y="2377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comme solution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6263640" y="2816352"/>
            <a:ext cx="2468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 la consommation AVANT mesure permet d'identifier les gros consommateurs et prioriser les rénovations à budget constant.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274320" y="4279392"/>
            <a:ext cx="8595360" cy="621792"/>
          </a:xfrm>
          <a:prstGeom prst="rect">
            <a:avLst/>
          </a:prstGeom>
          <a:solidFill>
            <a:srgbClr val="0F1E3C">
              <a:alpha val="8000"/>
            </a:srgbClr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0"/>
          <p:cNvSpPr/>
          <p:nvPr/>
        </p:nvSpPr>
        <p:spPr>
          <a:xfrm>
            <a:off x="274320" y="4279392"/>
            <a:ext cx="64008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1"/>
          <p:cNvSpPr/>
          <p:nvPr/>
        </p:nvSpPr>
        <p:spPr>
          <a:xfrm>
            <a:off x="457200" y="4279392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OBJECTIF : Entraîner un modèle ML capable d'estimer la consommation énergétique (kBtu) de tout bâtiment de Seattle à partir de ses caractéristiques structurelles — sans jamais l'avoir mesuré.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LE DATASET BRUT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Seattle Building Energy Benchmarking 2016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987552"/>
            <a:ext cx="1993392" cy="1115568"/>
          </a:xfrm>
          <a:prstGeom prst="rect">
            <a:avLst/>
          </a:prstGeom>
          <a:solidFill>
            <a:srgbClr val="FFFFFF">
              <a:alpha val="7000"/>
            </a:srgbClr>
          </a:solidFill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56032" y="987552"/>
            <a:ext cx="199339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56032" y="1078992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3 376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56032" y="1581912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bâtiments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départ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68880" y="987552"/>
            <a:ext cx="1993392" cy="1115568"/>
          </a:xfrm>
          <a:prstGeom prst="rect">
            <a:avLst/>
          </a:prstGeom>
          <a:solidFill>
            <a:srgbClr val="FFFFFF">
              <a:alpha val="7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468880" y="987552"/>
            <a:ext cx="199339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468880" y="1078992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468880" y="1581912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81728" y="987552"/>
            <a:ext cx="1993392" cy="1115568"/>
          </a:xfrm>
          <a:prstGeom prst="rect">
            <a:avLst/>
          </a:prstGeom>
          <a:solidFill>
            <a:srgbClr val="FFFFFF">
              <a:alpha val="7000"/>
            </a:srgbClr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681728" y="987552"/>
            <a:ext cx="1993392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681728" y="1078992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Non-résidentiel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81728" y="1581912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l'étude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94576" y="987552"/>
            <a:ext cx="1993392" cy="1115568"/>
          </a:xfrm>
          <a:prstGeom prst="rect">
            <a:avLst/>
          </a:prstGeom>
          <a:solidFill>
            <a:srgbClr val="FFFFFF">
              <a:alpha val="7000"/>
            </a:srgbClr>
          </a:solidFill>
          <a:ln w="1905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6894576" y="987552"/>
            <a:ext cx="1993392" cy="73152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894576" y="1078992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2016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894576" y="1581912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relevés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6032" y="23042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Groupes de features dans le dataset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6032" y="2651760"/>
            <a:ext cx="2697480" cy="98755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852928"/>
            <a:ext cx="475488" cy="47548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914400" y="27249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14400" y="301752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totale, parking, bâtiments, étages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3163824" y="2651760"/>
            <a:ext cx="2697480" cy="98755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3552" y="2852928"/>
            <a:ext cx="475488" cy="47548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3822192" y="27249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Temporalité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3822192" y="301752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YearBuilt → </a:t>
            </a:r>
            <a:r>
              <a:rPr lang="en-US" sz="9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BuildingAge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calculé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6071616" y="2651760"/>
            <a:ext cx="2697480" cy="98755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344" y="2852928"/>
            <a:ext cx="475488" cy="47548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729984" y="27249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6729984" y="301752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Quartier · ZipCode · Coordonnées GPS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256032" y="3794760"/>
            <a:ext cx="2697480" cy="98755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3995928"/>
            <a:ext cx="475488" cy="47548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914400" y="38679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Équipements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914400" y="416052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HasGas, HasSteam (flags à créer)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3163824" y="3794760"/>
            <a:ext cx="2697480" cy="98755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3552" y="3995928"/>
            <a:ext cx="475488" cy="475488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3822192" y="38679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41" name="Text 34"/>
          <p:cNvSpPr/>
          <p:nvPr/>
        </p:nvSpPr>
        <p:spPr>
          <a:xfrm>
            <a:off x="3822192" y="416052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ENERGYSTARScore</a:t>
            </a:r>
            <a:endParaRPr lang="en-US" sz="950" dirty="0"/>
          </a:p>
        </p:txBody>
      </p:sp>
      <p:sp>
        <p:nvSpPr>
          <p:cNvPr id="42" name="Shape 35"/>
          <p:cNvSpPr/>
          <p:nvPr/>
        </p:nvSpPr>
        <p:spPr>
          <a:xfrm>
            <a:off x="6071616" y="3794760"/>
            <a:ext cx="2697480" cy="98755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1344" y="3995928"/>
            <a:ext cx="475488" cy="475488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6729984" y="38679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1100" dirty="0"/>
          </a:p>
        </p:txBody>
      </p:sp>
      <p:sp>
        <p:nvSpPr>
          <p:cNvPr id="45" name="Text 37"/>
          <p:cNvSpPr/>
          <p:nvPr/>
        </p:nvSpPr>
        <p:spPr>
          <a:xfrm>
            <a:off x="6729984" y="416052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PrimaryPropertyType (22 catégories)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NETTOYAGE DES DONNÉES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0" y="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chirurgicale · 3 376 → 1 565 bâtiments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2606040" cy="1261872"/>
          </a:xfrm>
          <a:prstGeom prst="rect">
            <a:avLst/>
          </a:prstGeom>
          <a:solidFill>
            <a:srgbClr val="64748B">
              <a:alpha val="8000"/>
            </a:srgbClr>
          </a:solidFill>
          <a:ln w="254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56032" y="117043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3 376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56032" y="181051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Bâtiments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départ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62072" y="1737360"/>
            <a:ext cx="566928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935224" y="157276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00400" y="1115568"/>
            <a:ext cx="2606040" cy="1261872"/>
          </a:xfrm>
          <a:prstGeom prst="rect">
            <a:avLst/>
          </a:prstGeom>
          <a:solidFill>
            <a:srgbClr val="F59E0B">
              <a:alpha val="8000"/>
            </a:srgbClr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200400" y="117043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1 617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200400" y="181051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filtrage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périmètre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806440" y="1737360"/>
            <a:ext cx="566928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879592" y="157276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115568"/>
            <a:ext cx="2606040" cy="1261872"/>
          </a:xfrm>
          <a:prstGeom prst="rect">
            <a:avLst/>
          </a:prstGeom>
          <a:solidFill>
            <a:srgbClr val="22C55E">
              <a:alpha val="8000"/>
            </a:srgbClr>
          </a:solidFill>
          <a:ln w="254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144768" y="117043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1 565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144768" y="181051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propre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56032" y="25603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Critères de suppression appliqués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" y="2907792"/>
            <a:ext cx="2761488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256032" y="2907792"/>
            <a:ext cx="64008" cy="804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3072384"/>
            <a:ext cx="402336" cy="40233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59536" y="296265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Multifamily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59536" y="3236976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 périmètre : résidentiel · ~1 700 lignes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3182112" y="2907792"/>
            <a:ext cx="2761488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3"/>
          <p:cNvSpPr/>
          <p:nvPr/>
        </p:nvSpPr>
        <p:spPr>
          <a:xfrm>
            <a:off x="3182112" y="2907792"/>
            <a:ext cx="64008" cy="8046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3072384"/>
            <a:ext cx="402336" cy="402336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3785616" y="296265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mairie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3785616" y="3236976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Déjà identifiés comme aberrants · qqs lignes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6108192" y="2907792"/>
            <a:ext cx="2761488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7"/>
          <p:cNvSpPr/>
          <p:nvPr/>
        </p:nvSpPr>
        <p:spPr>
          <a:xfrm>
            <a:off x="6108192" y="2907792"/>
            <a:ext cx="64008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8"/>
          <p:cNvSpPr/>
          <p:nvPr/>
        </p:nvSpPr>
        <p:spPr>
          <a:xfrm>
            <a:off x="6711696" y="296265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SiteEnergyUse = 0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6711696" y="3236976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de relevé probable · qqs lignes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256032" y="3822192"/>
            <a:ext cx="2761488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1"/>
          <p:cNvSpPr/>
          <p:nvPr/>
        </p:nvSpPr>
        <p:spPr>
          <a:xfrm>
            <a:off x="256032" y="3822192"/>
            <a:ext cx="64008" cy="80467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" y="3986784"/>
            <a:ext cx="402336" cy="402336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859536" y="387705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PropertyGFATotal = 0</a:t>
            </a:r>
            <a:endParaRPr lang="en-US" sz="1050" dirty="0"/>
          </a:p>
        </p:txBody>
      </p:sp>
      <p:sp>
        <p:nvSpPr>
          <p:cNvPr id="38" name="Text 33"/>
          <p:cNvSpPr/>
          <p:nvPr/>
        </p:nvSpPr>
        <p:spPr>
          <a:xfrm>
            <a:off x="859536" y="4151376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physiquement · qqs lignes</a:t>
            </a:r>
            <a:endParaRPr lang="en-US" sz="950" dirty="0"/>
          </a:p>
        </p:txBody>
      </p:sp>
      <p:sp>
        <p:nvSpPr>
          <p:cNvPr id="39" name="Shape 34"/>
          <p:cNvSpPr/>
          <p:nvPr/>
        </p:nvSpPr>
        <p:spPr>
          <a:xfrm>
            <a:off x="6089904" y="3830683"/>
            <a:ext cx="2761488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Shape 35"/>
          <p:cNvSpPr/>
          <p:nvPr/>
        </p:nvSpPr>
        <p:spPr>
          <a:xfrm>
            <a:off x="6089904" y="3830683"/>
            <a:ext cx="64008" cy="8046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7064" y="3995275"/>
            <a:ext cx="402336" cy="402336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6693408" y="3885547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NumberofFloors = 99  NumberofBuildings = 0</a:t>
            </a:r>
            <a:endParaRPr lang="en-US" sz="1050" dirty="0"/>
          </a:p>
        </p:txBody>
      </p:sp>
      <p:sp>
        <p:nvSpPr>
          <p:cNvPr id="43" name="Text 37"/>
          <p:cNvSpPr/>
          <p:nvPr/>
        </p:nvSpPr>
        <p:spPr>
          <a:xfrm>
            <a:off x="6693408" y="4159867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Impossibles physiquement · ~52 lignes</a:t>
            </a:r>
            <a:endParaRPr lang="en-US" sz="950" dirty="0"/>
          </a:p>
        </p:txBody>
      </p:sp>
      <p:sp>
        <p:nvSpPr>
          <p:cNvPr id="44" name="Shape 38"/>
          <p:cNvSpPr/>
          <p:nvPr/>
        </p:nvSpPr>
        <p:spPr>
          <a:xfrm>
            <a:off x="3140964" y="3835908"/>
            <a:ext cx="2761488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5" name="Shape 39"/>
          <p:cNvSpPr/>
          <p:nvPr/>
        </p:nvSpPr>
        <p:spPr>
          <a:xfrm>
            <a:off x="3140964" y="3835908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8124" y="4000500"/>
            <a:ext cx="402336" cy="402336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3744468" y="3890772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YearBuilt hors 1900–2016</a:t>
            </a:r>
            <a:endParaRPr lang="en-US" sz="1050" dirty="0"/>
          </a:p>
        </p:txBody>
      </p:sp>
      <p:sp>
        <p:nvSpPr>
          <p:cNvPr id="48" name="Text 41"/>
          <p:cNvSpPr/>
          <p:nvPr/>
        </p:nvSpPr>
        <p:spPr>
          <a:xfrm>
            <a:off x="3744468" y="4165092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Années incohérentes · qqs lignes</a:t>
            </a:r>
            <a:endParaRPr lang="en-US" sz="950" dirty="0"/>
          </a:p>
        </p:txBody>
      </p:sp>
      <p:sp>
        <p:nvSpPr>
          <p:cNvPr id="49" name="Shape 42"/>
          <p:cNvSpPr/>
          <p:nvPr/>
        </p:nvSpPr>
        <p:spPr>
          <a:xfrm>
            <a:off x="256032" y="4791456"/>
            <a:ext cx="8631936" cy="109728"/>
          </a:xfrm>
          <a:prstGeom prst="rect">
            <a:avLst/>
          </a:prstGeom>
          <a:solidFill>
            <a:srgbClr val="CBD5E1">
              <a:alpha val="40000"/>
            </a:srgbClr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3"/>
          <p:cNvSpPr/>
          <p:nvPr/>
        </p:nvSpPr>
        <p:spPr>
          <a:xfrm>
            <a:off x="256032" y="4919472"/>
            <a:ext cx="8631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: Nettoyage ciblé → 3.2% de perte  ·  Percentiles aveugles → 12% de perte  ·  IQR classique → 62.9% de perte 🔥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LOG TRANSFORM — POURQUOI ET EFFET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SiteEnergyUse(kBtu) → ln(x + 1)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35131" y="868680"/>
            <a:ext cx="4114800" cy="3886200"/>
          </a:xfrm>
          <a:prstGeom prst="rect">
            <a:avLst/>
          </a:prstGeom>
          <a:solidFill>
            <a:srgbClr val="FFFFFF">
              <a:alpha val="7000"/>
            </a:srgbClr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35131" y="868680"/>
            <a:ext cx="4114800" cy="384048"/>
          </a:xfrm>
          <a:prstGeom prst="rect">
            <a:avLst/>
          </a:prstGeom>
          <a:solidFill>
            <a:srgbClr val="EF4444">
              <a:alpha val="9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63147" y="8686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AVANT — Distribution brute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3147" y="2295144"/>
            <a:ext cx="329184" cy="54864"/>
          </a:xfrm>
          <a:prstGeom prst="rect">
            <a:avLst/>
          </a:prstGeom>
          <a:solidFill>
            <a:srgbClr val="EF4444">
              <a:alpha val="6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747195" y="2240280"/>
            <a:ext cx="329184" cy="109728"/>
          </a:xfrm>
          <a:prstGeom prst="rect">
            <a:avLst/>
          </a:prstGeom>
          <a:solidFill>
            <a:srgbClr val="EF4444">
              <a:alpha val="6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1131243" y="2152498"/>
            <a:ext cx="329184" cy="197510"/>
          </a:xfrm>
          <a:prstGeom prst="rect">
            <a:avLst/>
          </a:prstGeom>
          <a:solidFill>
            <a:srgbClr val="EF4444">
              <a:alpha val="6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1515291" y="1746504"/>
            <a:ext cx="329184" cy="603504"/>
          </a:xfrm>
          <a:prstGeom prst="rect">
            <a:avLst/>
          </a:prstGeom>
          <a:solidFill>
            <a:srgbClr val="EF4444">
              <a:alpha val="6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1899339" y="2020824"/>
            <a:ext cx="329184" cy="329184"/>
          </a:xfrm>
          <a:prstGeom prst="rect">
            <a:avLst/>
          </a:prstGeom>
          <a:solidFill>
            <a:srgbClr val="EF4444">
              <a:alpha val="6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2283387" y="2218334"/>
            <a:ext cx="329184" cy="131674"/>
          </a:xfrm>
          <a:prstGeom prst="rect">
            <a:avLst/>
          </a:prstGeom>
          <a:solidFill>
            <a:srgbClr val="EF4444">
              <a:alpha val="6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2667435" y="2284171"/>
            <a:ext cx="329184" cy="65837"/>
          </a:xfrm>
          <a:prstGeom prst="rect">
            <a:avLst/>
          </a:prstGeom>
          <a:solidFill>
            <a:srgbClr val="EF4444">
              <a:alpha val="6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051483" y="2317090"/>
            <a:ext cx="329184" cy="32918"/>
          </a:xfrm>
          <a:prstGeom prst="rect">
            <a:avLst/>
          </a:prstGeom>
          <a:solidFill>
            <a:srgbClr val="EF4444">
              <a:alpha val="6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435531" y="2328062"/>
            <a:ext cx="329184" cy="21946"/>
          </a:xfrm>
          <a:prstGeom prst="rect">
            <a:avLst/>
          </a:prstGeom>
          <a:solidFill>
            <a:srgbClr val="EF4444">
              <a:alpha val="6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819579" y="2333549"/>
            <a:ext cx="329184" cy="16459"/>
          </a:xfrm>
          <a:prstGeom prst="rect">
            <a:avLst/>
          </a:prstGeom>
          <a:solidFill>
            <a:srgbClr val="EF4444">
              <a:alpha val="6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63147" y="24688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kBtu brut (0 → millions)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3147" y="27889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très asymétrique à droite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3147" y="319125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1 000 000x entre petits et grands bâtiments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3147" y="35935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</a:t>
            </a:r>
            <a:r>
              <a:rPr lang="en-US" sz="10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algorithmes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ML sont « aveuglés » par les valeurs extrêmes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3147" y="39959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coefficients deviennent microscopiques (0.000001 × GFA)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13355" y="726948"/>
            <a:ext cx="4572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203627" y="51663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ln(x+1)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2267" y="868680"/>
            <a:ext cx="4114800" cy="3886200"/>
          </a:xfrm>
          <a:prstGeom prst="rect">
            <a:avLst/>
          </a:prstGeom>
          <a:solidFill>
            <a:srgbClr val="FFFFFF">
              <a:alpha val="7000"/>
            </a:srgbClr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4752267" y="868680"/>
            <a:ext cx="4114800" cy="384048"/>
          </a:xfrm>
          <a:prstGeom prst="rect">
            <a:avLst/>
          </a:prstGeom>
          <a:solidFill>
            <a:srgbClr val="22C55E">
              <a:alpha val="9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880283" y="8686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APRÈS — Distribution log-transformée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80283" y="2306117"/>
            <a:ext cx="329184" cy="43891"/>
          </a:xfrm>
          <a:prstGeom prst="rect">
            <a:avLst/>
          </a:prstGeom>
          <a:solidFill>
            <a:srgbClr val="22C55E">
              <a:alpha val="6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5264331" y="2262226"/>
            <a:ext cx="329184" cy="87782"/>
          </a:xfrm>
          <a:prstGeom prst="rect">
            <a:avLst/>
          </a:prstGeom>
          <a:solidFill>
            <a:srgbClr val="22C55E">
              <a:alpha val="6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5648379" y="2152498"/>
            <a:ext cx="329184" cy="197510"/>
          </a:xfrm>
          <a:prstGeom prst="rect">
            <a:avLst/>
          </a:prstGeom>
          <a:solidFill>
            <a:srgbClr val="22C55E">
              <a:alpha val="6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6032427" y="1933042"/>
            <a:ext cx="329184" cy="416966"/>
          </a:xfrm>
          <a:prstGeom prst="rect">
            <a:avLst/>
          </a:prstGeom>
          <a:solidFill>
            <a:srgbClr val="22C55E">
              <a:alpha val="6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6416475" y="1559966"/>
            <a:ext cx="329184" cy="790042"/>
          </a:xfrm>
          <a:prstGeom prst="rect">
            <a:avLst/>
          </a:prstGeom>
          <a:solidFill>
            <a:srgbClr val="22C55E">
              <a:alpha val="6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6800523" y="1384402"/>
            <a:ext cx="329184" cy="965606"/>
          </a:xfrm>
          <a:prstGeom prst="rect">
            <a:avLst/>
          </a:prstGeom>
          <a:solidFill>
            <a:srgbClr val="22C55E">
              <a:alpha val="6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7184571" y="1494130"/>
            <a:ext cx="329184" cy="855878"/>
          </a:xfrm>
          <a:prstGeom prst="rect">
            <a:avLst/>
          </a:prstGeom>
          <a:solidFill>
            <a:srgbClr val="22C55E">
              <a:alpha val="6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7568619" y="1823314"/>
            <a:ext cx="329184" cy="526694"/>
          </a:xfrm>
          <a:prstGeom prst="rect">
            <a:avLst/>
          </a:prstGeom>
          <a:solidFill>
            <a:srgbClr val="22C55E">
              <a:alpha val="6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7952667" y="2108606"/>
            <a:ext cx="329184" cy="241402"/>
          </a:xfrm>
          <a:prstGeom prst="rect">
            <a:avLst/>
          </a:prstGeom>
          <a:solidFill>
            <a:srgbClr val="22C55E">
              <a:alpha val="6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8336715" y="2262226"/>
            <a:ext cx="329184" cy="87782"/>
          </a:xfrm>
          <a:prstGeom prst="rect">
            <a:avLst/>
          </a:prstGeom>
          <a:solidFill>
            <a:srgbClr val="22C55E">
              <a:alpha val="6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4880283" y="24688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SiteEnergyUse_log (0 → ~20)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80283" y="27889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fr-FR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limiter l'influence des valeurs extrêmes </a:t>
            </a:r>
          </a:p>
        </p:txBody>
      </p:sp>
      <p:sp>
        <p:nvSpPr>
          <p:cNvPr id="40" name="Text 38"/>
          <p:cNvSpPr/>
          <p:nvPr/>
        </p:nvSpPr>
        <p:spPr>
          <a:xfrm>
            <a:off x="4880283" y="319125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Échelle compressée de [0 → millions] à [0 → ~20]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80283" y="35935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distributions symétriques = Algorithmes ML performent mieux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80283" y="39959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Petits et grands bâtiments contribuent équitablement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35131" y="4846320"/>
            <a:ext cx="8631936" cy="45720"/>
          </a:xfrm>
          <a:prstGeom prst="rect">
            <a:avLst/>
          </a:prstGeom>
          <a:solidFill>
            <a:srgbClr val="CBD5E1">
              <a:alpha val="40000"/>
            </a:srgbClr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256032" y="4937760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Pourquoi +1 ? → ln(0) n'existe pas. Ajouter 1 garantit qu'un bâtiment à 0 kBtu donne ln(1) = 0 sans crash.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ANALYSE EXPLORATOIRE (EDA)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0" y="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visualisations clés · insights avant modélisation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2761488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56032" y="1115568"/>
            <a:ext cx="2761488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1920240" cy="256032"/>
          </a:xfrm>
          <a:prstGeom prst="roundRect">
            <a:avLst>
              <a:gd name="adj" fmla="val 14286"/>
            </a:avLst>
          </a:prstGeom>
          <a:solidFill>
            <a:srgbClr val="0D9488">
              <a:alpha val="18000"/>
            </a:srgbClr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</a:t>
            </a:r>
            <a:endParaRPr lang="en-US" sz="8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938528"/>
            <a:ext cx="548640" cy="5486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93192" y="2578608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Histogramme (quanti)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65760" y="318211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de la target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65760" y="3154680"/>
            <a:ext cx="254203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log-normale après transformation. Étendue : 0 à 20. Pas d'outlier extrême visible.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182112" y="1115568"/>
            <a:ext cx="2761488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3"/>
          <p:cNvSpPr/>
          <p:nvPr/>
        </p:nvSpPr>
        <p:spPr>
          <a:xfrm>
            <a:off x="3182112" y="1115568"/>
            <a:ext cx="2761488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3291840" y="1234440"/>
            <a:ext cx="1920240" cy="256032"/>
          </a:xfrm>
          <a:prstGeom prst="roundRect">
            <a:avLst>
              <a:gd name="adj" fmla="val 14286"/>
            </a:avLst>
          </a:prstGeom>
          <a:solidFill>
            <a:srgbClr val="F59E0B">
              <a:alpha val="18000"/>
            </a:srgbClr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3291840" y="12344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 × QUANTI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3291840" y="3216075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vs Consommation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3291840" y="3154680"/>
            <a:ext cx="254203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 monotone croissante forte. Plus le GFATotal est grand, plus la consommation est élevée — confirme l'importance de cette feature.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108192" y="1115568"/>
            <a:ext cx="2761488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1"/>
          <p:cNvSpPr/>
          <p:nvPr/>
        </p:nvSpPr>
        <p:spPr>
          <a:xfrm>
            <a:off x="6108192" y="1115568"/>
            <a:ext cx="2761488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2"/>
          <p:cNvSpPr/>
          <p:nvPr/>
        </p:nvSpPr>
        <p:spPr>
          <a:xfrm>
            <a:off x="6217920" y="1234440"/>
            <a:ext cx="1920240" cy="256032"/>
          </a:xfrm>
          <a:prstGeom prst="roundRect">
            <a:avLst>
              <a:gd name="adj" fmla="val 14286"/>
            </a:avLst>
          </a:prstGeom>
          <a:solidFill>
            <a:srgbClr val="A78BFA">
              <a:alpha val="18000"/>
            </a:srgbClr>
          </a:solidFill>
          <a:ln w="9525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3"/>
          <p:cNvSpPr/>
          <p:nvPr/>
        </p:nvSpPr>
        <p:spPr>
          <a:xfrm>
            <a:off x="6217920" y="12344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 × QUANTI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6245352" y="3741666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Consommation par type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6236208" y="3577074"/>
            <a:ext cx="254203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entrepôts (Warehouse) et les hôpitaux affichent des médianes nettement plus élevées que les bureaux. Forte hétérogénéité inter-catégories.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256032" y="4846320"/>
            <a:ext cx="8631936" cy="457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29"/>
          <p:cNvSpPr/>
          <p:nvPr/>
        </p:nvSpPr>
        <p:spPr>
          <a:xfrm>
            <a:off x="256032" y="4892040"/>
            <a:ext cx="8631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Insight clé : La surface (GFATotal) et le type de bâtiment expliquent à eux deux la majeure partie de la variance — ils seront confirmés par la feature importance en fin de projet.</a:t>
            </a:r>
            <a:endParaRPr lang="en-US" sz="950" dirty="0"/>
          </a:p>
        </p:txBody>
      </p:sp>
      <p:pic>
        <p:nvPicPr>
          <p:cNvPr id="36" name="Image 35">
            <a:extLst>
              <a:ext uri="{FF2B5EF4-FFF2-40B4-BE49-F238E27FC236}">
                <a16:creationId xmlns:a16="http://schemas.microsoft.com/office/drawing/2014/main" id="{D5031FBE-5865-C39D-7FB9-E0B037497E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609344"/>
            <a:ext cx="2743200" cy="1362205"/>
          </a:xfrm>
          <a:prstGeom prst="rect">
            <a:avLst/>
          </a:prstGeom>
        </p:spPr>
      </p:pic>
      <p:pic>
        <p:nvPicPr>
          <p:cNvPr id="38" name="Image 37">
            <a:extLst>
              <a:ext uri="{FF2B5EF4-FFF2-40B4-BE49-F238E27FC236}">
                <a16:creationId xmlns:a16="http://schemas.microsoft.com/office/drawing/2014/main" id="{AEFB5891-2F35-964B-B6C7-034A36F36C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2112" y="1495990"/>
            <a:ext cx="2761488" cy="1356938"/>
          </a:xfrm>
          <a:prstGeom prst="rect">
            <a:avLst/>
          </a:prstGeom>
        </p:spPr>
      </p:pic>
      <p:pic>
        <p:nvPicPr>
          <p:cNvPr id="40" name="Image 39">
            <a:extLst>
              <a:ext uri="{FF2B5EF4-FFF2-40B4-BE49-F238E27FC236}">
                <a16:creationId xmlns:a16="http://schemas.microsoft.com/office/drawing/2014/main" id="{7DBCE222-372E-3641-33AF-F482E718F1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8192" y="1523782"/>
            <a:ext cx="2761488" cy="20199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DATA LEAKAGE — LE PIÈGE ÉVITÉ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le plus dangereux en ML supervisé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987552"/>
            <a:ext cx="4114800" cy="3913632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56032" y="987552"/>
            <a:ext cx="4114800" cy="365760"/>
          </a:xfrm>
          <a:prstGeom prst="rect">
            <a:avLst/>
          </a:prstGeom>
          <a:solidFill>
            <a:srgbClr val="EF4444">
              <a:alpha val="9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84048" y="9875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C'est quoi le Data Leakage ?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072" y="1463040"/>
            <a:ext cx="731520" cy="731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84048" y="22677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L'analogie de l'examen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84048" y="25786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qu'on donne les RÉPONSES à l'IA pendant son entraînement. Elle va juste faire :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84048" y="2999232"/>
            <a:ext cx="3840480" cy="402336"/>
          </a:xfrm>
          <a:prstGeom prst="rect">
            <a:avLst/>
          </a:prstGeom>
          <a:solidFill>
            <a:srgbClr val="EF4444">
              <a:alpha val="20000"/>
            </a:srgbClr>
          </a:solidFill>
          <a:ln w="95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384048" y="299923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Élec + Gaz + Steam = Total  →  100% de précision ! 🎉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84048" y="3456432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le jour où le maire arrive avec un NOUVEAU bâtiment (sans compteurs), le modèle plante totalement. Il n'a rien appris — il trichait.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84048" y="4114800"/>
            <a:ext cx="3840480" cy="676656"/>
          </a:xfrm>
          <a:prstGeom prst="rect">
            <a:avLst/>
          </a:prstGeom>
          <a:solidFill>
            <a:srgbClr val="EF4444">
              <a:alpha val="12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502920" y="413308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d'or : Ne jamais inclure dans X des informations qu'on ne possédera PAS au moment de la prédiction réelle.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773168" y="987552"/>
            <a:ext cx="4114800" cy="3913632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4773168" y="987552"/>
            <a:ext cx="4114800" cy="365760"/>
          </a:xfrm>
          <a:prstGeom prst="rect">
            <a:avLst/>
          </a:prstGeom>
          <a:solidFill>
            <a:srgbClr val="22C55E">
              <a:alpha val="9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4901184" y="9875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Notre solution appliquée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901184" y="14081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 supprimées (dérivent de la target) :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901184" y="171907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  Electricity(kWh)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821424" y="171907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  Electricity(kBtu)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901184" y="2048256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  NaturalGas(therms)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821424" y="2048256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  NaturalGas(kBtu)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901184" y="237744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  SteamUse(kBtu)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821424" y="237744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  SiteEUI(kBtu/sf)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901184" y="270662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  SourceEUI(kBtu/sf)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821424" y="270662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  TotalGHGEmissions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901184" y="303580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  GHGEmissionsIntensity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773168" y="3474720"/>
            <a:ext cx="4114800" cy="73152"/>
          </a:xfrm>
          <a:prstGeom prst="rect">
            <a:avLst/>
          </a:prstGeom>
          <a:solidFill>
            <a:srgbClr val="22C55E">
              <a:alpha val="40000"/>
            </a:srgbClr>
          </a:solidFill>
          <a:ln w="12700">
            <a:solidFill>
              <a:srgbClr val="22C55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7"/>
          <p:cNvSpPr/>
          <p:nvPr/>
        </p:nvSpPr>
        <p:spPr>
          <a:xfrm>
            <a:off x="4901184" y="35844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créées AVANT la suppression (info structurelle) :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901184" y="3877056"/>
            <a:ext cx="1810512" cy="731520"/>
          </a:xfrm>
          <a:prstGeom prst="rect">
            <a:avLst/>
          </a:prstGeom>
          <a:solidFill>
            <a:srgbClr val="22C55E">
              <a:alpha val="12000"/>
            </a:srgbClr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9"/>
          <p:cNvSpPr/>
          <p:nvPr/>
        </p:nvSpPr>
        <p:spPr>
          <a:xfrm>
            <a:off x="4901184" y="391363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HasGas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901184" y="420624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Raccordé au gaz (0/1)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6821424" y="3877056"/>
            <a:ext cx="1810512" cy="731520"/>
          </a:xfrm>
          <a:prstGeom prst="rect">
            <a:avLst/>
          </a:prstGeom>
          <a:solidFill>
            <a:srgbClr val="22C55E">
              <a:alpha val="12000"/>
            </a:srgbClr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2"/>
          <p:cNvSpPr/>
          <p:nvPr/>
        </p:nvSpPr>
        <p:spPr>
          <a:xfrm>
            <a:off x="6821424" y="391363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HasSteam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821424" y="420624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Raccordé à la vapeur (0/1)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FEATURE ENGINEERING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0" y="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de l'information nouvelle à partir de l'existant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201168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56032" y="1115568"/>
            <a:ext cx="201168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329184" y="1170432"/>
            <a:ext cx="256032" cy="25603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29184" y="1170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115214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BuildingAge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138988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Temporalité</a:t>
            </a:r>
            <a:endParaRPr lang="en-US" sz="8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645920"/>
            <a:ext cx="512064" cy="51206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347472" y="2249424"/>
            <a:ext cx="1828800" cy="274320"/>
          </a:xfrm>
          <a:prstGeom prst="roundRect">
            <a:avLst>
              <a:gd name="adj" fmla="val 13333"/>
            </a:avLst>
          </a:prstGeom>
          <a:solidFill>
            <a:srgbClr val="0D9488">
              <a:alpha val="12000"/>
            </a:srgbClr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347472" y="22494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 : 2016 − YearBuilt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47472" y="2615184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188720" y="2615184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47472" y="2834640"/>
            <a:ext cx="822960" cy="475488"/>
          </a:xfrm>
          <a:prstGeom prst="rect">
            <a:avLst/>
          </a:prstGeom>
          <a:solidFill>
            <a:srgbClr val="CBD5E1">
              <a:alpha val="15000"/>
            </a:srgbClr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347472" y="283464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YearBuilt = 1990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1188720" y="2834640"/>
            <a:ext cx="822960" cy="475488"/>
          </a:xfrm>
          <a:prstGeom prst="rect">
            <a:avLst/>
          </a:prstGeom>
          <a:solidFill>
            <a:srgbClr val="0D9488">
              <a:alpha val="15000"/>
            </a:srgbClr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1188720" y="283464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BuildingAge = 26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47472" y="34015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?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47472" y="3639312"/>
            <a:ext cx="1828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date absolue n'a pas de sens pour un algorithme. Un âge est une grandeur continue interprétable : vieux bâtiment = moins bonne isolation.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2468880" y="1115568"/>
            <a:ext cx="201168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1"/>
          <p:cNvSpPr/>
          <p:nvPr/>
        </p:nvSpPr>
        <p:spPr>
          <a:xfrm>
            <a:off x="2468880" y="1115568"/>
            <a:ext cx="201168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2"/>
          <p:cNvSpPr/>
          <p:nvPr/>
        </p:nvSpPr>
        <p:spPr>
          <a:xfrm>
            <a:off x="2542032" y="1170432"/>
            <a:ext cx="256032" cy="25603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3"/>
          <p:cNvSpPr/>
          <p:nvPr/>
        </p:nvSpPr>
        <p:spPr>
          <a:xfrm>
            <a:off x="2542032" y="1170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2852928" y="115214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IsMultiUse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2852928" y="138988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850" dirty="0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8688" y="1645920"/>
            <a:ext cx="512064" cy="512064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2560320" y="2249424"/>
            <a:ext cx="1828800" cy="274320"/>
          </a:xfrm>
          <a:prstGeom prst="roundRect">
            <a:avLst>
              <a:gd name="adj" fmla="val 13333"/>
            </a:avLst>
          </a:prstGeom>
          <a:solidFill>
            <a:srgbClr val="F59E0B">
              <a:alpha val="12000"/>
            </a:srgbClr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7"/>
          <p:cNvSpPr/>
          <p:nvPr/>
        </p:nvSpPr>
        <p:spPr>
          <a:xfrm>
            <a:off x="2560320" y="22494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 : 1 si 2ème usage ≠ Aucun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2560320" y="2615184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3401568" y="2615184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2560320" y="2834640"/>
            <a:ext cx="822960" cy="475488"/>
          </a:xfrm>
          <a:prstGeom prst="rect">
            <a:avLst/>
          </a:prstGeom>
          <a:solidFill>
            <a:srgbClr val="CBD5E1">
              <a:alpha val="15000"/>
            </a:srgbClr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1"/>
          <p:cNvSpPr/>
          <p:nvPr/>
        </p:nvSpPr>
        <p:spPr>
          <a:xfrm>
            <a:off x="2560320" y="283464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SecondUseType = "Hotel"</a:t>
            </a:r>
            <a:endParaRPr lang="en-US" sz="850" dirty="0"/>
          </a:p>
        </p:txBody>
      </p:sp>
      <p:sp>
        <p:nvSpPr>
          <p:cNvPr id="36" name="Shape 32"/>
          <p:cNvSpPr/>
          <p:nvPr/>
        </p:nvSpPr>
        <p:spPr>
          <a:xfrm>
            <a:off x="3401568" y="2834640"/>
            <a:ext cx="822960" cy="475488"/>
          </a:xfrm>
          <a:prstGeom prst="rect">
            <a:avLst/>
          </a:prstGeom>
          <a:solidFill>
            <a:srgbClr val="F59E0B">
              <a:alpha val="15000"/>
            </a:srgbClr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3"/>
          <p:cNvSpPr/>
          <p:nvPr/>
        </p:nvSpPr>
        <p:spPr>
          <a:xfrm>
            <a:off x="3401568" y="283464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IsMultiUse = 1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2560320" y="34015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?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2560320" y="3639312"/>
            <a:ext cx="1828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bâtiment multi-usage consomme différemment. Ce flag binaire capture cette information sans créer de fuite de données.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4681728" y="1115568"/>
            <a:ext cx="201168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1" name="Shape 37"/>
          <p:cNvSpPr/>
          <p:nvPr/>
        </p:nvSpPr>
        <p:spPr>
          <a:xfrm>
            <a:off x="4681728" y="1115568"/>
            <a:ext cx="2011680" cy="4389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Shape 38"/>
          <p:cNvSpPr/>
          <p:nvPr/>
        </p:nvSpPr>
        <p:spPr>
          <a:xfrm>
            <a:off x="4754880" y="1170432"/>
            <a:ext cx="256032" cy="25603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39"/>
          <p:cNvSpPr/>
          <p:nvPr/>
        </p:nvSpPr>
        <p:spPr>
          <a:xfrm>
            <a:off x="4754880" y="1170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44" name="Text 40"/>
          <p:cNvSpPr/>
          <p:nvPr/>
        </p:nvSpPr>
        <p:spPr>
          <a:xfrm>
            <a:off x="5065776" y="115214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HasGas &amp; HasSteam</a:t>
            </a:r>
            <a:endParaRPr lang="en-US" sz="1100" dirty="0"/>
          </a:p>
        </p:txBody>
      </p:sp>
      <p:sp>
        <p:nvSpPr>
          <p:cNvPr id="45" name="Text 41"/>
          <p:cNvSpPr/>
          <p:nvPr/>
        </p:nvSpPr>
        <p:spPr>
          <a:xfrm>
            <a:off x="5065776" y="138988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Équipements</a:t>
            </a:r>
            <a:endParaRPr lang="en-US" sz="850" dirty="0"/>
          </a:p>
        </p:txBody>
      </p:sp>
      <p:pic>
        <p:nvPicPr>
          <p:cNvPr id="4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1536" y="1645920"/>
            <a:ext cx="512064" cy="512064"/>
          </a:xfrm>
          <a:prstGeom prst="rect">
            <a:avLst/>
          </a:prstGeom>
        </p:spPr>
      </p:pic>
      <p:sp>
        <p:nvSpPr>
          <p:cNvPr id="47" name="Shape 42"/>
          <p:cNvSpPr/>
          <p:nvPr/>
        </p:nvSpPr>
        <p:spPr>
          <a:xfrm>
            <a:off x="4773168" y="2249424"/>
            <a:ext cx="1828800" cy="274320"/>
          </a:xfrm>
          <a:prstGeom prst="roundRect">
            <a:avLst>
              <a:gd name="adj" fmla="val 13333"/>
            </a:avLst>
          </a:prstGeom>
          <a:solidFill>
            <a:srgbClr val="F97316">
              <a:alpha val="12000"/>
            </a:srgbClr>
          </a:solidFill>
          <a:ln w="9525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3"/>
          <p:cNvSpPr/>
          <p:nvPr/>
        </p:nvSpPr>
        <p:spPr>
          <a:xfrm>
            <a:off x="4773168" y="22494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 : NaturalGas &gt; 0 → 1</a:t>
            </a:r>
            <a:endParaRPr lang="en-US" sz="850" dirty="0"/>
          </a:p>
        </p:txBody>
      </p:sp>
      <p:sp>
        <p:nvSpPr>
          <p:cNvPr id="49" name="Text 44"/>
          <p:cNvSpPr/>
          <p:nvPr/>
        </p:nvSpPr>
        <p:spPr>
          <a:xfrm>
            <a:off x="4773168" y="2615184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</a:t>
            </a:r>
            <a:endParaRPr lang="en-US" sz="850" dirty="0"/>
          </a:p>
        </p:txBody>
      </p:sp>
      <p:sp>
        <p:nvSpPr>
          <p:cNvPr id="50" name="Text 45"/>
          <p:cNvSpPr/>
          <p:nvPr/>
        </p:nvSpPr>
        <p:spPr>
          <a:xfrm>
            <a:off x="5614416" y="2615184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</a:t>
            </a:r>
            <a:endParaRPr lang="en-US" sz="850" dirty="0"/>
          </a:p>
        </p:txBody>
      </p:sp>
      <p:sp>
        <p:nvSpPr>
          <p:cNvPr id="51" name="Shape 46"/>
          <p:cNvSpPr/>
          <p:nvPr/>
        </p:nvSpPr>
        <p:spPr>
          <a:xfrm>
            <a:off x="4773168" y="2834640"/>
            <a:ext cx="822960" cy="475488"/>
          </a:xfrm>
          <a:prstGeom prst="rect">
            <a:avLst/>
          </a:prstGeom>
          <a:solidFill>
            <a:srgbClr val="CBD5E1">
              <a:alpha val="15000"/>
            </a:srgbClr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47"/>
          <p:cNvSpPr/>
          <p:nvPr/>
        </p:nvSpPr>
        <p:spPr>
          <a:xfrm>
            <a:off x="4773168" y="283464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NaturalGas(kBtu) = 500</a:t>
            </a:r>
            <a:endParaRPr lang="en-US" sz="850" dirty="0"/>
          </a:p>
        </p:txBody>
      </p:sp>
      <p:sp>
        <p:nvSpPr>
          <p:cNvPr id="53" name="Shape 48"/>
          <p:cNvSpPr/>
          <p:nvPr/>
        </p:nvSpPr>
        <p:spPr>
          <a:xfrm>
            <a:off x="5614416" y="2834640"/>
            <a:ext cx="822960" cy="475488"/>
          </a:xfrm>
          <a:prstGeom prst="rect">
            <a:avLst/>
          </a:prstGeom>
          <a:solidFill>
            <a:srgbClr val="F97316">
              <a:alpha val="15000"/>
            </a:srgbClr>
          </a:solidFill>
          <a:ln w="9525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Text 49"/>
          <p:cNvSpPr/>
          <p:nvPr/>
        </p:nvSpPr>
        <p:spPr>
          <a:xfrm>
            <a:off x="5614416" y="283464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HasGas = 1</a:t>
            </a:r>
            <a:endParaRPr lang="en-US" sz="900" dirty="0"/>
          </a:p>
        </p:txBody>
      </p:sp>
      <p:sp>
        <p:nvSpPr>
          <p:cNvPr id="55" name="Text 50"/>
          <p:cNvSpPr/>
          <p:nvPr/>
        </p:nvSpPr>
        <p:spPr>
          <a:xfrm>
            <a:off x="4773168" y="34015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?</a:t>
            </a:r>
            <a:endParaRPr lang="en-US" sz="900" dirty="0"/>
          </a:p>
        </p:txBody>
      </p:sp>
      <p:sp>
        <p:nvSpPr>
          <p:cNvPr id="56" name="Text 51"/>
          <p:cNvSpPr/>
          <p:nvPr/>
        </p:nvSpPr>
        <p:spPr>
          <a:xfrm>
            <a:off x="4773168" y="3639312"/>
            <a:ext cx="1828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veut savoir SI le bâtiment utilise du gaz, pas combien. La quantité serait du leakage, le flag binaire est une info structurelle.</a:t>
            </a:r>
            <a:endParaRPr lang="en-US" sz="900" dirty="0"/>
          </a:p>
        </p:txBody>
      </p:sp>
      <p:sp>
        <p:nvSpPr>
          <p:cNvPr id="57" name="Shape 52"/>
          <p:cNvSpPr/>
          <p:nvPr/>
        </p:nvSpPr>
        <p:spPr>
          <a:xfrm>
            <a:off x="6894576" y="1115568"/>
            <a:ext cx="201168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8" name="Shape 53"/>
          <p:cNvSpPr/>
          <p:nvPr/>
        </p:nvSpPr>
        <p:spPr>
          <a:xfrm>
            <a:off x="6894576" y="1115568"/>
            <a:ext cx="2011680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9" name="Shape 54"/>
          <p:cNvSpPr/>
          <p:nvPr/>
        </p:nvSpPr>
        <p:spPr>
          <a:xfrm>
            <a:off x="6967728" y="1170432"/>
            <a:ext cx="256032" cy="25603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0" name="Text 55"/>
          <p:cNvSpPr/>
          <p:nvPr/>
        </p:nvSpPr>
        <p:spPr>
          <a:xfrm>
            <a:off x="6967728" y="1170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61" name="Text 56"/>
          <p:cNvSpPr/>
          <p:nvPr/>
        </p:nvSpPr>
        <p:spPr>
          <a:xfrm>
            <a:off x="7278624" y="115214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redondances</a:t>
            </a:r>
            <a:endParaRPr lang="en-US" sz="1100" dirty="0"/>
          </a:p>
        </p:txBody>
      </p:sp>
      <p:sp>
        <p:nvSpPr>
          <p:cNvPr id="62" name="Text 57"/>
          <p:cNvSpPr/>
          <p:nvPr/>
        </p:nvSpPr>
        <p:spPr>
          <a:xfrm>
            <a:off x="7278624" y="138988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 Spearman</a:t>
            </a:r>
            <a:endParaRPr lang="en-US" sz="850" dirty="0"/>
          </a:p>
        </p:txBody>
      </p:sp>
      <p:pic>
        <p:nvPicPr>
          <p:cNvPr id="6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4384" y="1645920"/>
            <a:ext cx="512064" cy="512064"/>
          </a:xfrm>
          <a:prstGeom prst="rect">
            <a:avLst/>
          </a:prstGeom>
        </p:spPr>
      </p:pic>
      <p:sp>
        <p:nvSpPr>
          <p:cNvPr id="64" name="Shape 58"/>
          <p:cNvSpPr/>
          <p:nvPr/>
        </p:nvSpPr>
        <p:spPr>
          <a:xfrm>
            <a:off x="6986016" y="2249424"/>
            <a:ext cx="1828800" cy="274320"/>
          </a:xfrm>
          <a:prstGeom prst="roundRect">
            <a:avLst>
              <a:gd name="adj" fmla="val 13333"/>
            </a:avLst>
          </a:prstGeom>
          <a:solidFill>
            <a:srgbClr val="EF4444">
              <a:alpha val="12000"/>
            </a:srgbClr>
          </a:solidFill>
          <a:ln w="95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5" name="Text 59"/>
          <p:cNvSpPr/>
          <p:nvPr/>
        </p:nvSpPr>
        <p:spPr>
          <a:xfrm>
            <a:off x="6986016" y="22494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 : |r| ≥ 0.85 → supprimer</a:t>
            </a:r>
            <a:endParaRPr lang="en-US" sz="850" dirty="0"/>
          </a:p>
        </p:txBody>
      </p:sp>
      <p:sp>
        <p:nvSpPr>
          <p:cNvPr id="66" name="Text 60"/>
          <p:cNvSpPr/>
          <p:nvPr/>
        </p:nvSpPr>
        <p:spPr>
          <a:xfrm>
            <a:off x="6986016" y="2615184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</a:t>
            </a:r>
            <a:endParaRPr lang="en-US" sz="850" dirty="0"/>
          </a:p>
        </p:txBody>
      </p:sp>
      <p:sp>
        <p:nvSpPr>
          <p:cNvPr id="67" name="Text 61"/>
          <p:cNvSpPr/>
          <p:nvPr/>
        </p:nvSpPr>
        <p:spPr>
          <a:xfrm>
            <a:off x="7827264" y="2615184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</a:t>
            </a:r>
            <a:endParaRPr lang="en-US" sz="850" dirty="0"/>
          </a:p>
        </p:txBody>
      </p:sp>
      <p:sp>
        <p:nvSpPr>
          <p:cNvPr id="68" name="Shape 62"/>
          <p:cNvSpPr/>
          <p:nvPr/>
        </p:nvSpPr>
        <p:spPr>
          <a:xfrm>
            <a:off x="6986016" y="2834640"/>
            <a:ext cx="822960" cy="475488"/>
          </a:xfrm>
          <a:prstGeom prst="rect">
            <a:avLst/>
          </a:prstGeom>
          <a:solidFill>
            <a:srgbClr val="CBD5E1">
              <a:alpha val="15000"/>
            </a:srgbClr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9" name="Text 63"/>
          <p:cNvSpPr/>
          <p:nvPr/>
        </p:nvSpPr>
        <p:spPr>
          <a:xfrm>
            <a:off x="6986016" y="283464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PropertyGFABuilding(s) r=0.978</a:t>
            </a:r>
            <a:endParaRPr lang="en-US" sz="850" dirty="0"/>
          </a:p>
        </p:txBody>
      </p:sp>
      <p:sp>
        <p:nvSpPr>
          <p:cNvPr id="70" name="Shape 64"/>
          <p:cNvSpPr/>
          <p:nvPr/>
        </p:nvSpPr>
        <p:spPr>
          <a:xfrm>
            <a:off x="7827264" y="2834640"/>
            <a:ext cx="822960" cy="475488"/>
          </a:xfrm>
          <a:prstGeom prst="rect">
            <a:avLst/>
          </a:prstGeom>
          <a:solidFill>
            <a:srgbClr val="EF4444">
              <a:alpha val="15000"/>
            </a:srgbClr>
          </a:solidFill>
          <a:ln w="95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1" name="Text 65"/>
          <p:cNvSpPr/>
          <p:nvPr/>
        </p:nvSpPr>
        <p:spPr>
          <a:xfrm>
            <a:off x="7827264" y="283464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Supprimée (redondante)</a:t>
            </a:r>
            <a:endParaRPr lang="en-US" sz="900" dirty="0"/>
          </a:p>
        </p:txBody>
      </p:sp>
      <p:sp>
        <p:nvSpPr>
          <p:cNvPr id="72" name="Text 66"/>
          <p:cNvSpPr/>
          <p:nvPr/>
        </p:nvSpPr>
        <p:spPr>
          <a:xfrm>
            <a:off x="6986016" y="34015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?</a:t>
            </a:r>
            <a:endParaRPr lang="en-US" sz="900" dirty="0"/>
          </a:p>
        </p:txBody>
      </p:sp>
      <p:sp>
        <p:nvSpPr>
          <p:cNvPr id="73" name="Text 67"/>
          <p:cNvSpPr/>
          <p:nvPr/>
        </p:nvSpPr>
        <p:spPr>
          <a:xfrm>
            <a:off x="6986016" y="3639312"/>
            <a:ext cx="1828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colonnes mesurent la même réalité physique (surface). On garde uniquement PropertyGFATotal, le plus complet.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SPLIT X/y + PRÉPARATION FINALE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OHE · Imputation · X prêt pour la modélisation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987552"/>
            <a:ext cx="4572000" cy="1078992"/>
          </a:xfrm>
          <a:prstGeom prst="rect">
            <a:avLst/>
          </a:prstGeom>
          <a:solidFill>
            <a:srgbClr val="0D9488">
              <a:alpha val="20000"/>
            </a:srgbClr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84048" y="102412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— Features d'entrée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3716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(1 565 bâtiments × 34 colonnes)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230368" y="987552"/>
            <a:ext cx="3657600" cy="1078992"/>
          </a:xfrm>
          <a:prstGeom prst="rect">
            <a:avLst/>
          </a:prstGeom>
          <a:solidFill>
            <a:srgbClr val="F59E0B">
              <a:alpha val="2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358384" y="102412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— Target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58384" y="13716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SiteEnergyUse_log · (1 565,)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6032" y="22128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features numériques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6032" y="2505456"/>
            <a:ext cx="2103120" cy="384048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29184" y="2523744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PropertyGFATotal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9184" y="2706624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totale (m²)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496312" y="2505456"/>
            <a:ext cx="2103120" cy="384048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2569464" y="2523744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PropertyGFAParking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69464" y="2706624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parking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6032" y="2944368"/>
            <a:ext cx="2103120" cy="384048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29184" y="2962656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NumberofFloors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9184" y="314553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d'étages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496312" y="2944368"/>
            <a:ext cx="2103120" cy="384048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2569464" y="2962656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NumberofBuildings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69464" y="314553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Bâtiments sur parcelle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56032" y="3383280"/>
            <a:ext cx="2103120" cy="384048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29184" y="3401568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ENERGYSTARScore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9184" y="3584448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effic. (imputé)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496312" y="3383280"/>
            <a:ext cx="2103120" cy="384048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2569464" y="3401568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BuildingAge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569464" y="3584448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 du bâtiment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56032" y="3822192"/>
            <a:ext cx="2103120" cy="384048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329184" y="3840480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IsMultiUse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9184" y="4023360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mixte (0/1)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496312" y="3822192"/>
            <a:ext cx="2103120" cy="384048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2569464" y="3840480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HasGas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569464" y="4023360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 (0/1)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56032" y="4261104"/>
            <a:ext cx="2103120" cy="384048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329184" y="4279392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HasSteam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29184" y="4462272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Vapeur (0/1)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496312" y="4261104"/>
            <a:ext cx="2103120" cy="384048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2569464" y="4279392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DefaultData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69464" y="4462272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Estimé/mesuré (0/1)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029200" y="2212848"/>
            <a:ext cx="3840480" cy="2560320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5157216" y="22677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features catégorielles → OHE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157216" y="2596896"/>
            <a:ext cx="3566160" cy="950976"/>
          </a:xfrm>
          <a:prstGeom prst="rect">
            <a:avLst/>
          </a:prstGeom>
          <a:solidFill>
            <a:srgbClr val="0D9488">
              <a:alpha val="12000"/>
            </a:srgbClr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5285232" y="2633472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PrimaryPropertyType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285232" y="2907792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valeurs — max_categories=10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9 colonnes + infrequent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157216" y="3694176"/>
            <a:ext cx="3566160" cy="950976"/>
          </a:xfrm>
          <a:prstGeom prst="rect">
            <a:avLst/>
          </a:prstGeom>
          <a:solidFill>
            <a:srgbClr val="F59E0B">
              <a:alpha val="12000"/>
            </a:srgbClr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5285232" y="3730752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285232" y="4005072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quartiers — Toutes encodées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14 colonnes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56032" y="4828032"/>
            <a:ext cx="4572000" cy="310896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256032" y="482803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final : (1 565 × 34)  ·  y : (1 565,)  ·  0 valeur manquante ✅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COMPARAISON DES MODÈLES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: cross_validate (5 folds) — évaluation rigoureuse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987552"/>
            <a:ext cx="87782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82880" y="9875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14600" y="987552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R²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410712" y="987552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306824" y="987552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202936" y="987552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RMSE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35624" y="987552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031736" y="9875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1371600"/>
            <a:ext cx="87782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74320" y="1444752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DummyRegressor
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514600" y="1371600"/>
            <a:ext cx="896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10712" y="1371600"/>
            <a:ext cx="896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-0.001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306824" y="1371600"/>
            <a:ext cx="896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1.019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202936" y="1371600"/>
            <a:ext cx="9326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1.280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35624" y="1371600"/>
            <a:ext cx="896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031736" y="1371600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Inutile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82880" y="1993392"/>
            <a:ext cx="87782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274320" y="2066544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LinearRegression
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+ scaling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514600" y="1993392"/>
            <a:ext cx="896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0.596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410712" y="1993392"/>
            <a:ext cx="896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0.559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306824" y="1993392"/>
            <a:ext cx="896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0.645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202936" y="1993392"/>
            <a:ext cx="9326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0.849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135624" y="1993392"/>
            <a:ext cx="896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Léger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031736" y="1993392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Trop simple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514600" y="2615184"/>
            <a:ext cx="896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0.749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410712" y="2615184"/>
            <a:ext cx="896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0.624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306824" y="2615184"/>
            <a:ext cx="896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0.586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202936" y="2615184"/>
            <a:ext cx="9326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0.784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135624" y="2615184"/>
            <a:ext cx="896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Modéré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82880" y="2624328"/>
            <a:ext cx="8778240" cy="603504"/>
          </a:xfrm>
          <a:prstGeom prst="rect">
            <a:avLst/>
          </a:prstGeom>
          <a:solidFill>
            <a:srgbClr val="0D9488">
              <a:alpha val="25000"/>
            </a:srgbClr>
          </a:solidFill>
          <a:ln w="1905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182880" y="2624328"/>
            <a:ext cx="64008" cy="6035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274320" y="2697480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
</a:t>
            </a:r>
            <a:r>
              <a:rPr lang="en-US" sz="8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Regressor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514600" y="2624328"/>
            <a:ext cx="896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0.959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410712" y="2624328"/>
            <a:ext cx="896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0.697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306824" y="2624328"/>
            <a:ext cx="896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0.502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202936" y="2624328"/>
            <a:ext cx="9326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0.703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135624" y="2624328"/>
            <a:ext cx="896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031736" y="2624328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RETENU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182880" y="3243507"/>
            <a:ext cx="8778240" cy="1042416"/>
          </a:xfrm>
          <a:prstGeom prst="rect">
            <a:avLst/>
          </a:prstGeom>
          <a:solidFill>
            <a:srgbClr val="FFFFFF">
              <a:alpha val="9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182880" y="3243507"/>
            <a:ext cx="64008" cy="10424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384048" y="3280083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RANDOM FOREST RETENU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384048" y="3590979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 modèle à capturer les relations NON-LINÉAIRES. R² test = 0.697 signifie que le modèle explique 70% de la variance de consommation entre bâtiments. L'écart train/test (0.959 vs 0.697) indique un overfitting fort → sera traité par GridSearchCV.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GRIDSEARCHCV — STRATÉGIE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0" y="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Petite grille de test → Grande grille d'optimisation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631936" cy="658368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84048" y="111556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teste automatiquement TOUTES les combinaisons d'hyperparamètres avec cross-validation (5 folds) à chaque fois, puis retourne la meilleure.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1938528"/>
            <a:ext cx="4224528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56032" y="1938528"/>
            <a:ext cx="4224528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84048" y="19385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Petite grille — Test du code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55264" y="1993392"/>
            <a:ext cx="1133856" cy="237744"/>
          </a:xfrm>
          <a:prstGeom prst="roundRect">
            <a:avLst>
              <a:gd name="adj" fmla="val 15385"/>
            </a:avLst>
          </a:prstGeom>
          <a:solidFill>
            <a:srgbClr val="FFFFFF">
              <a:alpha val="75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255264" y="1993392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combinaisons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84048" y="2377440"/>
            <a:ext cx="3931920" cy="420624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12064" y="237744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68880" y="2377440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[100, 200]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84048" y="2852928"/>
            <a:ext cx="3931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12064" y="285292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68880" y="2852928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[5, 10]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84048" y="3328416"/>
            <a:ext cx="3931920" cy="420624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12064" y="332841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min_samples_split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468880" y="3328416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[2, 5]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84048" y="38221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8 combinaisons × 5 folds = 40 fits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4048" y="4114800"/>
            <a:ext cx="3931920" cy="640080"/>
          </a:xfrm>
          <a:prstGeom prst="rect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512064" y="41330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R² : R² = 0.7024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4048" y="4389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 : max_depth est le param clé. max_depth=10 &gt;&gt; max_depth=5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00016" y="1938528"/>
            <a:ext cx="4224528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4700016" y="1938528"/>
            <a:ext cx="4224528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828032" y="19385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grille — Vraie recherche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699248" y="1993392"/>
            <a:ext cx="1133856" cy="237744"/>
          </a:xfrm>
          <a:prstGeom prst="roundRect">
            <a:avLst>
              <a:gd name="adj" fmla="val 15385"/>
            </a:avLst>
          </a:prstGeom>
          <a:solidFill>
            <a:srgbClr val="FFFFFF">
              <a:alpha val="75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7699248" y="1993392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100–500 combinaisons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828032" y="2377440"/>
            <a:ext cx="3931920" cy="420624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4956048" y="237744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12864" y="2377440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[100, 200, 300, 500]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28032" y="2852928"/>
            <a:ext cx="3931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4956048" y="285292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12864" y="2852928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[10, 15, 20, 30, None]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28032" y="3328416"/>
            <a:ext cx="3931920" cy="420624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4956048" y="332841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min_samples_split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912864" y="3328416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[2, 5, 10, 15, 20]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828032" y="38221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100 combinaisons × 5 folds = 500 fits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28032" y="4114800"/>
            <a:ext cx="3931920" cy="640080"/>
          </a:xfrm>
          <a:prstGeom prst="rect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4956048" y="41330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R² : R² = 0.7043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28032" y="4389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minimal. Le plafond vient des features, pas des hyperparamètres.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56032" y="48280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Hyperparamètres optimaux :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670048" y="4791456"/>
            <a:ext cx="1920240" cy="329184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2670048" y="479145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 = 500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18888" y="4791456"/>
            <a:ext cx="1920240" cy="329184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4818888" y="479145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 = 15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967728" y="4791456"/>
            <a:ext cx="1920240" cy="329184"/>
          </a:xfrm>
          <a:prstGeom prst="rect">
            <a:avLst/>
          </a:prstGeom>
          <a:solidFill>
            <a:srgbClr val="A78BFA">
              <a:alpha val="12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6967728" y="479145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min_samples_split = 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— RÉSULTATS DE L'OPTIMISATION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baseline vs modèle optimisé GridSearchCV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987552"/>
            <a:ext cx="2697480" cy="1828800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56032" y="987552"/>
            <a:ext cx="269748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56032" y="111556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R²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20624" y="1536192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0624" y="1755648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0.697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719072" y="1536192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Optimisé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719072" y="1755648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0.704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12064" y="2359152"/>
            <a:ext cx="2176272" cy="310896"/>
          </a:xfrm>
          <a:prstGeom prst="rect">
            <a:avLst/>
          </a:prstGeom>
          <a:solidFill>
            <a:srgbClr val="22C55E">
              <a:alpha val="12000"/>
            </a:srgbClr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12064" y="2359152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: +0.007  (↑ monter vers 1.0)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63824" y="987552"/>
            <a:ext cx="2697480" cy="1828800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163824" y="987552"/>
            <a:ext cx="269748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163824" y="111556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328416" y="1536192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28416" y="1755648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0.502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26864" y="1536192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Optimisé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26864" y="1755648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0.498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3419856" y="2359152"/>
            <a:ext cx="2176272" cy="310896"/>
          </a:xfrm>
          <a:prstGeom prst="rect">
            <a:avLst/>
          </a:prstGeom>
          <a:solidFill>
            <a:srgbClr val="22C55E">
              <a:alpha val="12000"/>
            </a:srgbClr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419856" y="2359152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: -0.003  (↓ descendre vers 0)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071616" y="987552"/>
            <a:ext cx="2697480" cy="1828800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6071616" y="987552"/>
            <a:ext cx="2697480" cy="1097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6071616" y="111556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RMSE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236208" y="1536192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36208" y="1755648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0.703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534656" y="1536192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Optimisé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34656" y="1755648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0.695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6327648" y="2359152"/>
            <a:ext cx="2176272" cy="310896"/>
          </a:xfrm>
          <a:prstGeom prst="rect">
            <a:avLst/>
          </a:prstGeom>
          <a:solidFill>
            <a:srgbClr val="22C55E">
              <a:alpha val="12000"/>
            </a:srgbClr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6327648" y="2359152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: -0.008  (↓ descendre vers 0)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56032" y="2926080"/>
            <a:ext cx="8631936" cy="1115568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256032" y="2926080"/>
            <a:ext cx="64008" cy="11155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384048" y="296265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confirmé — R² train = 0.899 vs R² test = 0.704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84048" y="3346704"/>
            <a:ext cx="2890967" cy="256032"/>
          </a:xfrm>
          <a:prstGeom prst="rect">
            <a:avLst/>
          </a:prstGeom>
          <a:solidFill>
            <a:srgbClr val="14B8A6">
              <a:alpha val="6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6" name="Text 34"/>
          <p:cNvSpPr/>
          <p:nvPr/>
        </p:nvSpPr>
        <p:spPr>
          <a:xfrm>
            <a:off x="3384743" y="33467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Train : 0.899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498848" y="3346704"/>
            <a:ext cx="1730411" cy="256032"/>
          </a:xfrm>
          <a:prstGeom prst="rect">
            <a:avLst/>
          </a:prstGeom>
          <a:solidFill>
            <a:srgbClr val="EF4444">
              <a:alpha val="6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8" name="Text 36"/>
          <p:cNvSpPr/>
          <p:nvPr/>
        </p:nvSpPr>
        <p:spPr>
          <a:xfrm>
            <a:off x="6338987" y="33467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Test : 0.704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84048" y="3657600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de 0.20 → le modèle mémorise le train mais généralise moins bien. L'overfitting est significativement réduit vs baseline (0.96 → 0.90 en train).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56032" y="4187952"/>
            <a:ext cx="8631936" cy="731520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384048" y="4206240"/>
            <a:ext cx="8321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Plafond à R² = 0.704 non résolu davantage par GridSearch → Le gain est minimal (+0.007), confirmant que le facteur limitant est la richesse des features, pas les hyperparamètres. Des données supplémentaires (météo, isolation, rénovations) permettraient de franchir ce plafond.</a:t>
            </a:r>
            <a:endParaRPr lang="en-US" sz="10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— FEATURE IMPORTANCE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0" y="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Quelles variables expliquent vraiment les prédictions du modèle ?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56032" y="10789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322576" y="10789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15184" y="1463040"/>
            <a:ext cx="4572000" cy="274320"/>
          </a:xfrm>
          <a:prstGeom prst="rect">
            <a:avLst/>
          </a:prstGeom>
          <a:solidFill>
            <a:srgbClr val="CBD5E1">
              <a:alpha val="12000"/>
            </a:srgbClr>
          </a:solidFill>
          <a:ln w="12700">
            <a:solidFill>
              <a:srgbClr val="CBD5E1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322576" y="1444752"/>
            <a:ext cx="45720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56032" y="1371600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PropertyGFATotal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67728" y="14447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71.16%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22576" y="1975104"/>
            <a:ext cx="4572000" cy="274320"/>
          </a:xfrm>
          <a:prstGeom prst="rect">
            <a:avLst/>
          </a:prstGeom>
          <a:solidFill>
            <a:srgbClr val="CBD5E1">
              <a:alpha val="12000"/>
            </a:srgbClr>
          </a:solidFill>
          <a:ln w="12700">
            <a:solidFill>
              <a:srgbClr val="CBD5E1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2322576" y="1975104"/>
            <a:ext cx="537501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56032" y="1901952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ENERGYSTARScore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33229" y="19751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22576" y="2505456"/>
            <a:ext cx="4572000" cy="274320"/>
          </a:xfrm>
          <a:prstGeom prst="rect">
            <a:avLst/>
          </a:prstGeom>
          <a:solidFill>
            <a:srgbClr val="CBD5E1">
              <a:alpha val="12000"/>
            </a:srgbClr>
          </a:solidFill>
          <a:ln w="12700">
            <a:solidFill>
              <a:srgbClr val="CBD5E1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322576" y="2505456"/>
            <a:ext cx="265513" cy="2743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256032" y="2432304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PrimaryPropertyType_Warehouse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61241" y="2505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3.66%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322576" y="3035808"/>
            <a:ext cx="4572000" cy="274320"/>
          </a:xfrm>
          <a:prstGeom prst="rect">
            <a:avLst/>
          </a:prstGeom>
          <a:solidFill>
            <a:srgbClr val="CBD5E1">
              <a:alpha val="12000"/>
            </a:srgbClr>
          </a:solidFill>
          <a:ln w="12700">
            <a:solidFill>
              <a:srgbClr val="CBD5E1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2322576" y="3035808"/>
            <a:ext cx="233133" cy="274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256032" y="2962656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BuildingAge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28861" y="30358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3.64%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322576" y="3566160"/>
            <a:ext cx="4572000" cy="274320"/>
          </a:xfrm>
          <a:prstGeom prst="rect">
            <a:avLst/>
          </a:prstGeom>
          <a:solidFill>
            <a:srgbClr val="CBD5E1">
              <a:alpha val="12000"/>
            </a:srgbClr>
          </a:solidFill>
          <a:ln w="12700">
            <a:solidFill>
              <a:srgbClr val="CBD5E1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2322576" y="3566160"/>
            <a:ext cx="116567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256032" y="3493008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HasGas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512295" y="3566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1.71%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322576" y="4096512"/>
            <a:ext cx="4572000" cy="274320"/>
          </a:xfrm>
          <a:prstGeom prst="rect">
            <a:avLst/>
          </a:prstGeom>
          <a:solidFill>
            <a:srgbClr val="CBD5E1">
              <a:alpha val="12000"/>
            </a:srgbClr>
          </a:solidFill>
          <a:ln w="12700">
            <a:solidFill>
              <a:srgbClr val="CBD5E1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2322576" y="4096512"/>
            <a:ext cx="110091" cy="2743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256032" y="4023360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NumberofFloors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505819" y="40965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1.50%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322576" y="4626864"/>
            <a:ext cx="4572000" cy="274320"/>
          </a:xfrm>
          <a:prstGeom prst="rect">
            <a:avLst/>
          </a:prstGeom>
          <a:solidFill>
            <a:srgbClr val="CBD5E1">
              <a:alpha val="12000"/>
            </a:srgbClr>
          </a:solidFill>
          <a:ln w="12700">
            <a:solidFill>
              <a:srgbClr val="CBD5E1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2322576" y="4626864"/>
            <a:ext cx="641116" cy="2743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256032" y="4553712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 (28 features)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036844" y="46268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9.9%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406640" y="1371600"/>
            <a:ext cx="1508760" cy="1133856"/>
          </a:xfrm>
          <a:prstGeom prst="rect">
            <a:avLst/>
          </a:prstGeom>
          <a:solidFill>
            <a:srgbClr val="EF4444">
              <a:alpha val="12000"/>
            </a:srgbClr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7479792" y="14264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Dominantes (~79%)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479792" y="1700784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PropertyGFATotal (71%) + ENERGYSTARScore (8%)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2 features expliquent presque tout le modèle.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406640" y="2651760"/>
            <a:ext cx="1508760" cy="1133856"/>
          </a:xfrm>
          <a:prstGeom prst="rect">
            <a:avLst/>
          </a:prstGeom>
          <a:solidFill>
            <a:srgbClr val="F59E0B">
              <a:alpha val="12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7479792" y="27066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Utiles (~11%)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479792" y="2980944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Warehouse, BuildingAge, HasGas, NbFloors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 modestes mais pertinentes.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406640" y="3931920"/>
            <a:ext cx="1508760" cy="1133856"/>
          </a:xfrm>
          <a:prstGeom prst="rect">
            <a:avLst/>
          </a:prstGeom>
          <a:solidFill>
            <a:srgbClr val="64748B">
              <a:alpha val="12000"/>
            </a:srgbClr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7479792" y="39867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⚪ Bruit (~10%)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479792" y="4261104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Neighborhood_* + types rares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&lt; 0.01 chacune.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56032" y="5138928"/>
            <a:ext cx="7059168" cy="36576"/>
          </a:xfrm>
          <a:prstGeom prst="rect">
            <a:avLst/>
          </a:prstGeom>
          <a:solidFill>
            <a:srgbClr val="CBD5E1">
              <a:alpha val="30000"/>
            </a:srgbClr>
          </a:solidFill>
          <a:ln w="12700">
            <a:solidFill>
              <a:srgbClr val="CBD5E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256032" y="5175504"/>
            <a:ext cx="7059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Un grand bâtiment (GFATotal élevé) mal noté (ENERGY STAR bas) consomme massivement — relation quasi universelle confirmée par le modèle.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— CONCLUSION &amp; LIMITES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modèle sait faire — et ce qu'il ne sait pas faire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987552"/>
            <a:ext cx="8631936" cy="621792"/>
          </a:xfrm>
          <a:prstGeom prst="rect">
            <a:avLst/>
          </a:prstGeom>
          <a:solidFill>
            <a:srgbClr val="FFFFFF">
              <a:alpha val="9000"/>
            </a:srgbClr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56032" y="987552"/>
            <a:ext cx="64008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38912" y="10241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Modèle final : RandomForestRegressor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0" y="10058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0" y="12618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0.74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92240" y="10058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92240" y="12618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680960" y="10058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680960" y="12618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38912" y="135331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Erreur ~×1.6 sur conso réelle | très correct pour de l'estimation préventive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6032" y="1773936"/>
            <a:ext cx="4187952" cy="239572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256032" y="1773936"/>
            <a:ext cx="4187952" cy="365760"/>
          </a:xfrm>
          <a:prstGeom prst="rect">
            <a:avLst/>
          </a:prstGeom>
          <a:solidFill>
            <a:srgbClr val="22C55E">
              <a:alpha val="9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84048" y="177393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Ce que le modèle fait bien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20624" y="2194560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les relations non-linéaires entre features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0624" y="2578608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 aux valeurs extrêmes des features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0624" y="2962656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 clairement les très grands consommateurs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0624" y="3346704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Démarche propre : zéro data leakage, CV rigoureuse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0624" y="3730752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Interprétable via feature importance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1773936"/>
            <a:ext cx="4187952" cy="239572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4663440" y="1773936"/>
            <a:ext cx="4187952" cy="365760"/>
          </a:xfrm>
          <a:prstGeom prst="rect">
            <a:avLst/>
          </a:prstGeom>
          <a:solidFill>
            <a:srgbClr val="F59E0B">
              <a:alpha val="9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791456" y="177393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Limites identifiées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28032" y="2194560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: R² train 0.90 vs test 0.74 — persistant mais réduit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28032" y="2578608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S'appuie à 70% sur 1 seule feature (GFATotal)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28032" y="2962656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manquantes : météo, isolation, occupants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28032" y="3346704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Plafond à 0.74 non résolu davantage par GridSearch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28032" y="3730752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Quartiers (Neighborhood) n'apportent quasi rien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6032" y="4279392"/>
            <a:ext cx="8631936" cy="530352"/>
          </a:xfrm>
          <a:prstGeom prst="rect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384048" y="42793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Pour aller plus loin : GradientBoosting / XGBoost · Enrichissement données (météo, rénovations, isolation) · Feature engineering avancé · Réduction de l'overfitting par régularisation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56032" y="49377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du projet :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212848" y="4901184"/>
            <a:ext cx="566928" cy="256032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2212848" y="490118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779776" y="5029200"/>
            <a:ext cx="16459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2962656" y="4901184"/>
            <a:ext cx="566928" cy="256032"/>
          </a:xfrm>
          <a:prstGeom prst="ellipse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2962656" y="490118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529584" y="5029200"/>
            <a:ext cx="16459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3712464" y="4901184"/>
            <a:ext cx="566928" cy="256032"/>
          </a:xfrm>
          <a:prstGeom prst="ellipse">
            <a:avLst/>
          </a:prstGeom>
          <a:solidFill>
            <a:srgbClr val="F97316">
              <a:alpha val="30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3712464" y="490118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279392" y="5029200"/>
            <a:ext cx="16459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4462272" y="4901184"/>
            <a:ext cx="566928" cy="256032"/>
          </a:xfrm>
          <a:prstGeom prst="ellipse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4462272" y="490118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029200" y="5029200"/>
            <a:ext cx="16459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5212080" y="4901184"/>
            <a:ext cx="566928" cy="256032"/>
          </a:xfrm>
          <a:prstGeom prst="ellipse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5212080" y="490118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779008" y="5029200"/>
            <a:ext cx="16459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Shape 47"/>
          <p:cNvSpPr/>
          <p:nvPr/>
        </p:nvSpPr>
        <p:spPr>
          <a:xfrm>
            <a:off x="5961888" y="4901184"/>
            <a:ext cx="566928" cy="256032"/>
          </a:xfrm>
          <a:prstGeom prst="ellipse">
            <a:avLst/>
          </a:prstGeom>
          <a:solidFill>
            <a:srgbClr val="A78BFA">
              <a:alpha val="30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5961888" y="490118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X/y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528816" y="5029200"/>
            <a:ext cx="16459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6711696" y="4901184"/>
            <a:ext cx="566928" cy="256032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6711696" y="490118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7278624" y="5029200"/>
            <a:ext cx="16459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Shape 53"/>
          <p:cNvSpPr/>
          <p:nvPr/>
        </p:nvSpPr>
        <p:spPr>
          <a:xfrm>
            <a:off x="7461504" y="4901184"/>
            <a:ext cx="566928" cy="256032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7461504" y="490118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8028432" y="5029200"/>
            <a:ext cx="16459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8" name="Shape 56"/>
          <p:cNvSpPr/>
          <p:nvPr/>
        </p:nvSpPr>
        <p:spPr>
          <a:xfrm>
            <a:off x="8211312" y="4901184"/>
            <a:ext cx="566928" cy="256032"/>
          </a:xfrm>
          <a:prstGeom prst="ellipse">
            <a:avLst/>
          </a:prstGeom>
          <a:solidFill>
            <a:srgbClr val="5EEAD4">
              <a:alpha val="30000"/>
            </a:srgbClr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9" name="Text 57"/>
          <p:cNvSpPr/>
          <p:nvPr/>
        </p:nvSpPr>
        <p:spPr>
          <a:xfrm>
            <a:off x="8211312" y="490118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1937</Words>
  <Application>Microsoft Office PowerPoint</Application>
  <PresentationFormat>Affichage à l'écran (16:9)</PresentationFormat>
  <Paragraphs>370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Prédire la consommation énergétique des bâtiments de Seattle</dc:title>
  <dc:subject>PptxGenJS Presentation</dc:subject>
  <dc:creator>PptxGenJS</dc:creator>
  <cp:lastModifiedBy>alican yilmaz</cp:lastModifiedBy>
  <cp:revision>12</cp:revision>
  <dcterms:created xsi:type="dcterms:W3CDTF">2026-05-18T12:02:00Z</dcterms:created>
  <dcterms:modified xsi:type="dcterms:W3CDTF">2026-06-10T11:47:06Z</dcterms:modified>
</cp:coreProperties>
</file>